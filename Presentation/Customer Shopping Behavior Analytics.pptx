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00" r:id="rId15"/>
    <p:sldId id="31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A21D"/>
    <a:srgbClr val="EC70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9" autoAdjust="0"/>
  </p:normalViewPr>
  <p:slideViewPr>
    <p:cSldViewPr snapToGrid="0">
      <p:cViewPr varScale="1">
        <p:scale>
          <a:sx n="111" d="100"/>
          <a:sy n="111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130710-9D3C-47AB-A169-A1AC7C1A698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94D1C6-C19D-4187-A533-DB862AE4659C}">
      <dgm:prSet phldrT="[Text]" phldr="0"/>
      <dgm:spPr/>
      <dgm:t>
        <a:bodyPr/>
        <a:lstStyle/>
        <a:p>
          <a:r>
            <a:rPr lang="en-US" dirty="0"/>
            <a:t>Raw Data</a:t>
          </a:r>
        </a:p>
      </dgm:t>
    </dgm:pt>
    <dgm:pt modelId="{2DA56C97-10BD-4DB2-B1CF-AAA93F1F3CC4}" type="parTrans" cxnId="{8723EF43-2C2A-408F-8CF3-1479A160CA79}">
      <dgm:prSet/>
      <dgm:spPr/>
      <dgm:t>
        <a:bodyPr/>
        <a:lstStyle/>
        <a:p>
          <a:endParaRPr lang="en-US"/>
        </a:p>
      </dgm:t>
    </dgm:pt>
    <dgm:pt modelId="{59FAE7D7-EC57-4F8E-860B-DFE0041AEC2A}" type="sibTrans" cxnId="{8723EF43-2C2A-408F-8CF3-1479A160CA79}">
      <dgm:prSet/>
      <dgm:spPr/>
      <dgm:t>
        <a:bodyPr/>
        <a:lstStyle/>
        <a:p>
          <a:endParaRPr lang="en-US"/>
        </a:p>
      </dgm:t>
    </dgm:pt>
    <dgm:pt modelId="{72C1D1E4-C87E-499F-8602-421390FAC803}">
      <dgm:prSet phldrT="[Text]" phldr="0"/>
      <dgm:spPr/>
      <dgm:t>
        <a:bodyPr/>
        <a:lstStyle/>
        <a:p>
          <a:r>
            <a:rPr lang="en-US" dirty="0"/>
            <a:t>Data Cleaning</a:t>
          </a:r>
        </a:p>
      </dgm:t>
    </dgm:pt>
    <dgm:pt modelId="{BEF21C55-333A-4B1C-A9B6-41A6E62DB8FA}" type="parTrans" cxnId="{9758A076-6DA1-4A6A-9D9C-58E384516D35}">
      <dgm:prSet/>
      <dgm:spPr/>
      <dgm:t>
        <a:bodyPr/>
        <a:lstStyle/>
        <a:p>
          <a:endParaRPr lang="en-US"/>
        </a:p>
      </dgm:t>
    </dgm:pt>
    <dgm:pt modelId="{BC4A317C-35B0-4AB9-8F98-0A9E89675D9C}" type="sibTrans" cxnId="{9758A076-6DA1-4A6A-9D9C-58E384516D35}">
      <dgm:prSet/>
      <dgm:spPr/>
      <dgm:t>
        <a:bodyPr/>
        <a:lstStyle/>
        <a:p>
          <a:endParaRPr lang="en-US"/>
        </a:p>
      </dgm:t>
    </dgm:pt>
    <dgm:pt modelId="{72AA0A07-6A2F-4548-819D-ECADAE21435E}">
      <dgm:prSet phldrT="[Text]" phldr="0"/>
      <dgm:spPr/>
      <dgm:t>
        <a:bodyPr/>
        <a:lstStyle/>
        <a:p>
          <a:r>
            <a:rPr lang="en-US" dirty="0"/>
            <a:t>SQL Analysis</a:t>
          </a:r>
        </a:p>
      </dgm:t>
    </dgm:pt>
    <dgm:pt modelId="{2A9960E2-AA60-4CE9-9262-6367CCB17556}" type="parTrans" cxnId="{55ED56F9-2CB0-42A5-A742-5D78A604E5D8}">
      <dgm:prSet/>
      <dgm:spPr/>
      <dgm:t>
        <a:bodyPr/>
        <a:lstStyle/>
        <a:p>
          <a:endParaRPr lang="en-US"/>
        </a:p>
      </dgm:t>
    </dgm:pt>
    <dgm:pt modelId="{48F1A3BF-67FB-4AB4-A4F7-C0C128468BBD}" type="sibTrans" cxnId="{55ED56F9-2CB0-42A5-A742-5D78A604E5D8}">
      <dgm:prSet/>
      <dgm:spPr/>
      <dgm:t>
        <a:bodyPr/>
        <a:lstStyle/>
        <a:p>
          <a:endParaRPr lang="en-US"/>
        </a:p>
      </dgm:t>
    </dgm:pt>
    <dgm:pt modelId="{46EE42CF-23C5-4D33-8147-A1BB11B8BEAE}">
      <dgm:prSet phldrT="[Text]" phldr="0"/>
      <dgm:spPr/>
      <dgm:t>
        <a:bodyPr/>
        <a:lstStyle/>
        <a:p>
          <a:r>
            <a:rPr lang="en-US" dirty="0"/>
            <a:t>Tableau Dashboards</a:t>
          </a:r>
        </a:p>
      </dgm:t>
    </dgm:pt>
    <dgm:pt modelId="{C5F627A5-57AE-4EDD-A241-470A0AFDDD96}" type="parTrans" cxnId="{4E4EA465-AC57-4904-B638-F8E7DCC89E59}">
      <dgm:prSet/>
      <dgm:spPr/>
      <dgm:t>
        <a:bodyPr/>
        <a:lstStyle/>
        <a:p>
          <a:endParaRPr lang="en-US"/>
        </a:p>
      </dgm:t>
    </dgm:pt>
    <dgm:pt modelId="{C2516430-8C8B-44DC-A0D2-80191DC86FA0}" type="sibTrans" cxnId="{4E4EA465-AC57-4904-B638-F8E7DCC89E59}">
      <dgm:prSet/>
      <dgm:spPr/>
      <dgm:t>
        <a:bodyPr/>
        <a:lstStyle/>
        <a:p>
          <a:endParaRPr lang="en-US"/>
        </a:p>
      </dgm:t>
    </dgm:pt>
    <dgm:pt modelId="{29BDEC60-57FB-42F8-A394-6A1A7ACC10D9}" type="pres">
      <dgm:prSet presAssocID="{44130710-9D3C-47AB-A169-A1AC7C1A6988}" presName="Name0" presStyleCnt="0">
        <dgm:presLayoutVars>
          <dgm:dir/>
          <dgm:resizeHandles val="exact"/>
        </dgm:presLayoutVars>
      </dgm:prSet>
      <dgm:spPr/>
    </dgm:pt>
    <dgm:pt modelId="{3786E394-1835-4A5A-AD23-63C4474A1238}" type="pres">
      <dgm:prSet presAssocID="{4E94D1C6-C19D-4187-A533-DB862AE4659C}" presName="node" presStyleLbl="node1" presStyleIdx="0" presStyleCnt="4">
        <dgm:presLayoutVars>
          <dgm:bulletEnabled val="1"/>
        </dgm:presLayoutVars>
      </dgm:prSet>
      <dgm:spPr/>
    </dgm:pt>
    <dgm:pt modelId="{7E31EFC6-F761-4268-946C-2C0A202E88A6}" type="pres">
      <dgm:prSet presAssocID="{59FAE7D7-EC57-4F8E-860B-DFE0041AEC2A}" presName="sibTrans" presStyleLbl="sibTrans2D1" presStyleIdx="0" presStyleCnt="3"/>
      <dgm:spPr/>
    </dgm:pt>
    <dgm:pt modelId="{DB803B7E-29A2-4993-91AB-E173B538918E}" type="pres">
      <dgm:prSet presAssocID="{59FAE7D7-EC57-4F8E-860B-DFE0041AEC2A}" presName="connectorText" presStyleLbl="sibTrans2D1" presStyleIdx="0" presStyleCnt="3"/>
      <dgm:spPr/>
    </dgm:pt>
    <dgm:pt modelId="{0B45C8AD-FFA6-4504-9220-668E67CC77B3}" type="pres">
      <dgm:prSet presAssocID="{72C1D1E4-C87E-499F-8602-421390FAC803}" presName="node" presStyleLbl="node1" presStyleIdx="1" presStyleCnt="4" custLinFactNeighborX="0">
        <dgm:presLayoutVars>
          <dgm:bulletEnabled val="1"/>
        </dgm:presLayoutVars>
      </dgm:prSet>
      <dgm:spPr/>
    </dgm:pt>
    <dgm:pt modelId="{2A03AE09-38B2-4F21-BD9B-976E970C167B}" type="pres">
      <dgm:prSet presAssocID="{BC4A317C-35B0-4AB9-8F98-0A9E89675D9C}" presName="sibTrans" presStyleLbl="sibTrans2D1" presStyleIdx="1" presStyleCnt="3"/>
      <dgm:spPr/>
    </dgm:pt>
    <dgm:pt modelId="{AFEA2CCC-6802-40B8-8CF6-88C340F6EB27}" type="pres">
      <dgm:prSet presAssocID="{BC4A317C-35B0-4AB9-8F98-0A9E89675D9C}" presName="connectorText" presStyleLbl="sibTrans2D1" presStyleIdx="1" presStyleCnt="3"/>
      <dgm:spPr/>
    </dgm:pt>
    <dgm:pt modelId="{C362DE1D-90FA-42E5-984A-2786E4B52CF9}" type="pres">
      <dgm:prSet presAssocID="{72AA0A07-6A2F-4548-819D-ECADAE21435E}" presName="node" presStyleLbl="node1" presStyleIdx="2" presStyleCnt="4">
        <dgm:presLayoutVars>
          <dgm:bulletEnabled val="1"/>
        </dgm:presLayoutVars>
      </dgm:prSet>
      <dgm:spPr/>
    </dgm:pt>
    <dgm:pt modelId="{61A055C4-66AA-43FF-9DBC-CC86872D99E3}" type="pres">
      <dgm:prSet presAssocID="{48F1A3BF-67FB-4AB4-A4F7-C0C128468BBD}" presName="sibTrans" presStyleLbl="sibTrans2D1" presStyleIdx="2" presStyleCnt="3"/>
      <dgm:spPr/>
    </dgm:pt>
    <dgm:pt modelId="{D3994D9E-ACBC-4233-B54C-8D47B64E7D41}" type="pres">
      <dgm:prSet presAssocID="{48F1A3BF-67FB-4AB4-A4F7-C0C128468BBD}" presName="connectorText" presStyleLbl="sibTrans2D1" presStyleIdx="2" presStyleCnt="3"/>
      <dgm:spPr/>
    </dgm:pt>
    <dgm:pt modelId="{34C75E87-0B60-465E-889F-C09B6062EE81}" type="pres">
      <dgm:prSet presAssocID="{46EE42CF-23C5-4D33-8147-A1BB11B8BEAE}" presName="node" presStyleLbl="node1" presStyleIdx="3" presStyleCnt="4">
        <dgm:presLayoutVars>
          <dgm:bulletEnabled val="1"/>
        </dgm:presLayoutVars>
      </dgm:prSet>
      <dgm:spPr/>
    </dgm:pt>
  </dgm:ptLst>
  <dgm:cxnLst>
    <dgm:cxn modelId="{CA1A6E02-2441-4D63-9937-61A222F038F7}" type="presOf" srcId="{BC4A317C-35B0-4AB9-8F98-0A9E89675D9C}" destId="{AFEA2CCC-6802-40B8-8CF6-88C340F6EB27}" srcOrd="1" destOrd="0" presId="urn:microsoft.com/office/officeart/2005/8/layout/process1"/>
    <dgm:cxn modelId="{3C9D7E2A-C2C3-4942-8772-D3B82554484F}" type="presOf" srcId="{44130710-9D3C-47AB-A169-A1AC7C1A6988}" destId="{29BDEC60-57FB-42F8-A394-6A1A7ACC10D9}" srcOrd="0" destOrd="0" presId="urn:microsoft.com/office/officeart/2005/8/layout/process1"/>
    <dgm:cxn modelId="{8842433A-1706-4E72-BF77-8DFB8823F295}" type="presOf" srcId="{59FAE7D7-EC57-4F8E-860B-DFE0041AEC2A}" destId="{DB803B7E-29A2-4993-91AB-E173B538918E}" srcOrd="1" destOrd="0" presId="urn:microsoft.com/office/officeart/2005/8/layout/process1"/>
    <dgm:cxn modelId="{8723EF43-2C2A-408F-8CF3-1479A160CA79}" srcId="{44130710-9D3C-47AB-A169-A1AC7C1A6988}" destId="{4E94D1C6-C19D-4187-A533-DB862AE4659C}" srcOrd="0" destOrd="0" parTransId="{2DA56C97-10BD-4DB2-B1CF-AAA93F1F3CC4}" sibTransId="{59FAE7D7-EC57-4F8E-860B-DFE0041AEC2A}"/>
    <dgm:cxn modelId="{4E4EA465-AC57-4904-B638-F8E7DCC89E59}" srcId="{44130710-9D3C-47AB-A169-A1AC7C1A6988}" destId="{46EE42CF-23C5-4D33-8147-A1BB11B8BEAE}" srcOrd="3" destOrd="0" parTransId="{C5F627A5-57AE-4EDD-A241-470A0AFDDD96}" sibTransId="{C2516430-8C8B-44DC-A0D2-80191DC86FA0}"/>
    <dgm:cxn modelId="{EC87B953-CF7F-4A07-A631-482D7F719832}" type="presOf" srcId="{BC4A317C-35B0-4AB9-8F98-0A9E89675D9C}" destId="{2A03AE09-38B2-4F21-BD9B-976E970C167B}" srcOrd="0" destOrd="0" presId="urn:microsoft.com/office/officeart/2005/8/layout/process1"/>
    <dgm:cxn modelId="{9758A076-6DA1-4A6A-9D9C-58E384516D35}" srcId="{44130710-9D3C-47AB-A169-A1AC7C1A6988}" destId="{72C1D1E4-C87E-499F-8602-421390FAC803}" srcOrd="1" destOrd="0" parTransId="{BEF21C55-333A-4B1C-A9B6-41A6E62DB8FA}" sibTransId="{BC4A317C-35B0-4AB9-8F98-0A9E89675D9C}"/>
    <dgm:cxn modelId="{EE9A2D79-03DF-44F1-804B-38660EF0B6DD}" type="presOf" srcId="{46EE42CF-23C5-4D33-8147-A1BB11B8BEAE}" destId="{34C75E87-0B60-465E-889F-C09B6062EE81}" srcOrd="0" destOrd="0" presId="urn:microsoft.com/office/officeart/2005/8/layout/process1"/>
    <dgm:cxn modelId="{F07A7485-75BB-41C5-A73A-8A5774D9FDB8}" type="presOf" srcId="{59FAE7D7-EC57-4F8E-860B-DFE0041AEC2A}" destId="{7E31EFC6-F761-4268-946C-2C0A202E88A6}" srcOrd="0" destOrd="0" presId="urn:microsoft.com/office/officeart/2005/8/layout/process1"/>
    <dgm:cxn modelId="{3CD0ABA1-CFC3-4912-944B-1F7A3BC8C911}" type="presOf" srcId="{48F1A3BF-67FB-4AB4-A4F7-C0C128468BBD}" destId="{61A055C4-66AA-43FF-9DBC-CC86872D99E3}" srcOrd="0" destOrd="0" presId="urn:microsoft.com/office/officeart/2005/8/layout/process1"/>
    <dgm:cxn modelId="{0C6CC7AC-E00B-4590-A188-43040C83D486}" type="presOf" srcId="{48F1A3BF-67FB-4AB4-A4F7-C0C128468BBD}" destId="{D3994D9E-ACBC-4233-B54C-8D47B64E7D41}" srcOrd="1" destOrd="0" presId="urn:microsoft.com/office/officeart/2005/8/layout/process1"/>
    <dgm:cxn modelId="{DB8274E2-C512-4793-BB18-F6FBED709EAB}" type="presOf" srcId="{4E94D1C6-C19D-4187-A533-DB862AE4659C}" destId="{3786E394-1835-4A5A-AD23-63C4474A1238}" srcOrd="0" destOrd="0" presId="urn:microsoft.com/office/officeart/2005/8/layout/process1"/>
    <dgm:cxn modelId="{23BB6DF4-E900-4756-A3F1-75A04C064288}" type="presOf" srcId="{72AA0A07-6A2F-4548-819D-ECADAE21435E}" destId="{C362DE1D-90FA-42E5-984A-2786E4B52CF9}" srcOrd="0" destOrd="0" presId="urn:microsoft.com/office/officeart/2005/8/layout/process1"/>
    <dgm:cxn modelId="{9F20D3F7-6922-4AB9-9FBA-979CD1F1719F}" type="presOf" srcId="{72C1D1E4-C87E-499F-8602-421390FAC803}" destId="{0B45C8AD-FFA6-4504-9220-668E67CC77B3}" srcOrd="0" destOrd="0" presId="urn:microsoft.com/office/officeart/2005/8/layout/process1"/>
    <dgm:cxn modelId="{55ED56F9-2CB0-42A5-A742-5D78A604E5D8}" srcId="{44130710-9D3C-47AB-A169-A1AC7C1A6988}" destId="{72AA0A07-6A2F-4548-819D-ECADAE21435E}" srcOrd="2" destOrd="0" parTransId="{2A9960E2-AA60-4CE9-9262-6367CCB17556}" sibTransId="{48F1A3BF-67FB-4AB4-A4F7-C0C128468BBD}"/>
    <dgm:cxn modelId="{4BC3383C-EA78-4C56-92B4-66D5D4376A33}" type="presParOf" srcId="{29BDEC60-57FB-42F8-A394-6A1A7ACC10D9}" destId="{3786E394-1835-4A5A-AD23-63C4474A1238}" srcOrd="0" destOrd="0" presId="urn:microsoft.com/office/officeart/2005/8/layout/process1"/>
    <dgm:cxn modelId="{B3E75F46-1AA7-4080-BB40-A92E777F3088}" type="presParOf" srcId="{29BDEC60-57FB-42F8-A394-6A1A7ACC10D9}" destId="{7E31EFC6-F761-4268-946C-2C0A202E88A6}" srcOrd="1" destOrd="0" presId="urn:microsoft.com/office/officeart/2005/8/layout/process1"/>
    <dgm:cxn modelId="{3A98DAB6-B348-47F1-B7FB-685042787750}" type="presParOf" srcId="{7E31EFC6-F761-4268-946C-2C0A202E88A6}" destId="{DB803B7E-29A2-4993-91AB-E173B538918E}" srcOrd="0" destOrd="0" presId="urn:microsoft.com/office/officeart/2005/8/layout/process1"/>
    <dgm:cxn modelId="{A112FA39-FEF2-4270-BC17-D75B640E0151}" type="presParOf" srcId="{29BDEC60-57FB-42F8-A394-6A1A7ACC10D9}" destId="{0B45C8AD-FFA6-4504-9220-668E67CC77B3}" srcOrd="2" destOrd="0" presId="urn:microsoft.com/office/officeart/2005/8/layout/process1"/>
    <dgm:cxn modelId="{CA6DAA86-5B8A-4488-8359-E4BAFFE71738}" type="presParOf" srcId="{29BDEC60-57FB-42F8-A394-6A1A7ACC10D9}" destId="{2A03AE09-38B2-4F21-BD9B-976E970C167B}" srcOrd="3" destOrd="0" presId="urn:microsoft.com/office/officeart/2005/8/layout/process1"/>
    <dgm:cxn modelId="{40D0C546-8ED3-4A74-9D3B-C85A7E67D15B}" type="presParOf" srcId="{2A03AE09-38B2-4F21-BD9B-976E970C167B}" destId="{AFEA2CCC-6802-40B8-8CF6-88C340F6EB27}" srcOrd="0" destOrd="0" presId="urn:microsoft.com/office/officeart/2005/8/layout/process1"/>
    <dgm:cxn modelId="{1B49D24F-B854-4614-B8E5-ADA5E0319AD8}" type="presParOf" srcId="{29BDEC60-57FB-42F8-A394-6A1A7ACC10D9}" destId="{C362DE1D-90FA-42E5-984A-2786E4B52CF9}" srcOrd="4" destOrd="0" presId="urn:microsoft.com/office/officeart/2005/8/layout/process1"/>
    <dgm:cxn modelId="{812112E6-73B1-4EC9-9922-1DE973AD31EB}" type="presParOf" srcId="{29BDEC60-57FB-42F8-A394-6A1A7ACC10D9}" destId="{61A055C4-66AA-43FF-9DBC-CC86872D99E3}" srcOrd="5" destOrd="0" presId="urn:microsoft.com/office/officeart/2005/8/layout/process1"/>
    <dgm:cxn modelId="{4E1DF170-A0AE-4E06-97A2-3E9DAEAE6435}" type="presParOf" srcId="{61A055C4-66AA-43FF-9DBC-CC86872D99E3}" destId="{D3994D9E-ACBC-4233-B54C-8D47B64E7D41}" srcOrd="0" destOrd="0" presId="urn:microsoft.com/office/officeart/2005/8/layout/process1"/>
    <dgm:cxn modelId="{825AA797-B883-4941-BD40-05C0722167CA}" type="presParOf" srcId="{29BDEC60-57FB-42F8-A394-6A1A7ACC10D9}" destId="{34C75E87-0B60-465E-889F-C09B6062EE8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6E394-1835-4A5A-AD23-63C4474A1238}">
      <dsp:nvSpPr>
        <dsp:cNvPr id="0" name=""/>
        <dsp:cNvSpPr/>
      </dsp:nvSpPr>
      <dsp:spPr>
        <a:xfrm>
          <a:off x="4393" y="0"/>
          <a:ext cx="1920895" cy="87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Raw Data</a:t>
          </a:r>
        </a:p>
      </dsp:txBody>
      <dsp:txXfrm>
        <a:off x="30057" y="25664"/>
        <a:ext cx="1869567" cy="824893"/>
      </dsp:txXfrm>
    </dsp:sp>
    <dsp:sp modelId="{7E31EFC6-F761-4268-946C-2C0A202E88A6}">
      <dsp:nvSpPr>
        <dsp:cNvPr id="0" name=""/>
        <dsp:cNvSpPr/>
      </dsp:nvSpPr>
      <dsp:spPr>
        <a:xfrm>
          <a:off x="2117378" y="199919"/>
          <a:ext cx="407229" cy="476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117378" y="295195"/>
        <a:ext cx="285060" cy="285830"/>
      </dsp:txXfrm>
    </dsp:sp>
    <dsp:sp modelId="{0B45C8AD-FFA6-4504-9220-668E67CC77B3}">
      <dsp:nvSpPr>
        <dsp:cNvPr id="0" name=""/>
        <dsp:cNvSpPr/>
      </dsp:nvSpPr>
      <dsp:spPr>
        <a:xfrm>
          <a:off x="2693646" y="0"/>
          <a:ext cx="1920895" cy="87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 Cleaning</a:t>
          </a:r>
        </a:p>
      </dsp:txBody>
      <dsp:txXfrm>
        <a:off x="2719310" y="25664"/>
        <a:ext cx="1869567" cy="824893"/>
      </dsp:txXfrm>
    </dsp:sp>
    <dsp:sp modelId="{2A03AE09-38B2-4F21-BD9B-976E970C167B}">
      <dsp:nvSpPr>
        <dsp:cNvPr id="0" name=""/>
        <dsp:cNvSpPr/>
      </dsp:nvSpPr>
      <dsp:spPr>
        <a:xfrm>
          <a:off x="4806631" y="199919"/>
          <a:ext cx="407229" cy="476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806631" y="295195"/>
        <a:ext cx="285060" cy="285830"/>
      </dsp:txXfrm>
    </dsp:sp>
    <dsp:sp modelId="{C362DE1D-90FA-42E5-984A-2786E4B52CF9}">
      <dsp:nvSpPr>
        <dsp:cNvPr id="0" name=""/>
        <dsp:cNvSpPr/>
      </dsp:nvSpPr>
      <dsp:spPr>
        <a:xfrm>
          <a:off x="5382900" y="0"/>
          <a:ext cx="1920895" cy="87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SQL Analysis</a:t>
          </a:r>
        </a:p>
      </dsp:txBody>
      <dsp:txXfrm>
        <a:off x="5408564" y="25664"/>
        <a:ext cx="1869567" cy="824893"/>
      </dsp:txXfrm>
    </dsp:sp>
    <dsp:sp modelId="{61A055C4-66AA-43FF-9DBC-CC86872D99E3}">
      <dsp:nvSpPr>
        <dsp:cNvPr id="0" name=""/>
        <dsp:cNvSpPr/>
      </dsp:nvSpPr>
      <dsp:spPr>
        <a:xfrm>
          <a:off x="7495884" y="199919"/>
          <a:ext cx="407229" cy="476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495884" y="295195"/>
        <a:ext cx="285060" cy="285830"/>
      </dsp:txXfrm>
    </dsp:sp>
    <dsp:sp modelId="{34C75E87-0B60-465E-889F-C09B6062EE81}">
      <dsp:nvSpPr>
        <dsp:cNvPr id="0" name=""/>
        <dsp:cNvSpPr/>
      </dsp:nvSpPr>
      <dsp:spPr>
        <a:xfrm>
          <a:off x="8072153" y="0"/>
          <a:ext cx="1920895" cy="876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Tableau Dashboards</a:t>
          </a:r>
        </a:p>
      </dsp:txBody>
      <dsp:txXfrm>
        <a:off x="8097817" y="25664"/>
        <a:ext cx="1869567" cy="8248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6/14/2026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6/14/2026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940162"/>
          </a:xfrm>
        </p:spPr>
        <p:txBody>
          <a:bodyPr anchor="b">
            <a:norm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Customer Shopping Behavior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230840"/>
          </a:xfrm>
        </p:spPr>
        <p:txBody>
          <a:bodyPr anchor="t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1000" dirty="0"/>
              <a:t>Presented by: Donald Benoit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D6759-B495-F210-2033-5462D7FBB350}"/>
              </a:ext>
            </a:extLst>
          </p:cNvPr>
          <p:cNvSpPr txBox="1"/>
          <p:nvPr/>
        </p:nvSpPr>
        <p:spPr>
          <a:xfrm>
            <a:off x="8176090" y="3222003"/>
            <a:ext cx="31089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F6A21D"/>
              </a:buClr>
              <a:buSzPct val="100000"/>
              <a:buFont typeface="Calibri" panose="020F0502020204030204" pitchFamily="34" charset="0"/>
              <a:buNone/>
              <a:tabLst/>
              <a:defRPr/>
            </a:pPr>
            <a:r>
              <a:rPr kumimoji="0" lang="en-US" sz="1400" b="0" i="0" u="none" strike="noStrike" kern="1200" cap="all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Retail Sales Performance Analysis Using </a:t>
            </a:r>
            <a:r>
              <a:rPr kumimoji="0" lang="en-US" sz="1400" b="0" i="0" u="none" strike="noStrike" kern="1200" cap="all" spc="2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Bigquery</a:t>
            </a:r>
            <a:r>
              <a:rPr kumimoji="0" lang="en-US" sz="1400" b="0" i="0" u="none" strike="noStrike" kern="1200" cap="all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 and Tableau</a:t>
            </a:r>
          </a:p>
        </p:txBody>
      </p:sp>
      <p:pic>
        <p:nvPicPr>
          <p:cNvPr id="7" name="Graphic 6" descr="Venn diagram with solid fill">
            <a:extLst>
              <a:ext uri="{FF2B5EF4-FFF2-40B4-BE49-F238E27FC236}">
                <a16:creationId xmlns:a16="http://schemas.microsoft.com/office/drawing/2014/main" id="{F65C28CA-F937-9FB1-60AF-B0643A9C59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3535" y="2596477"/>
            <a:ext cx="414095" cy="414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B96083-6974-8BBF-7AF0-293796088061}"/>
              </a:ext>
            </a:extLst>
          </p:cNvPr>
          <p:cNvSpPr txBox="1"/>
          <p:nvPr/>
        </p:nvSpPr>
        <p:spPr>
          <a:xfrm>
            <a:off x="8224431" y="4788713"/>
            <a:ext cx="31089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Tools Used: </a:t>
            </a:r>
            <a:r>
              <a:rPr lang="en-US" sz="1000" dirty="0" err="1"/>
              <a:t>BigQuery</a:t>
            </a:r>
            <a:r>
              <a:rPr lang="en-US" sz="1000" dirty="0"/>
              <a:t> SQL, Tableau Public, Excel/CSV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5263AE-45FB-F857-A1AF-E66D0AA8B448}"/>
              </a:ext>
            </a:extLst>
          </p:cNvPr>
          <p:cNvSpPr txBox="1"/>
          <p:nvPr/>
        </p:nvSpPr>
        <p:spPr>
          <a:xfrm>
            <a:off x="8224430" y="5111501"/>
            <a:ext cx="3108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/>
              <a:t>541,909 Transactions Analyzed ~ $10.64M Revenue Evaluated ~ 4,338 Customers Studied</a:t>
            </a: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2C257-F98E-E218-A86C-BD637AECF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5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~ Objective ~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55BBD-3589-2F48-F821-9D7FAD26F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440613"/>
            <a:ext cx="4998720" cy="702305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sz="2600" b="1" dirty="0"/>
              <a:t>Analyze retail transaction data to identify: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C1C01-A16C-9D04-EACF-58A4808E7DEC}"/>
              </a:ext>
            </a:extLst>
          </p:cNvPr>
          <p:cNvSpPr txBox="1"/>
          <p:nvPr/>
        </p:nvSpPr>
        <p:spPr>
          <a:xfrm>
            <a:off x="6193766" y="1440613"/>
            <a:ext cx="5106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Business Questions: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EE0EA-B0D7-FEBF-5EA7-D99DF6EA2542}"/>
              </a:ext>
            </a:extLst>
          </p:cNvPr>
          <p:cNvSpPr txBox="1"/>
          <p:nvPr/>
        </p:nvSpPr>
        <p:spPr>
          <a:xfrm>
            <a:off x="1097280" y="2594623"/>
            <a:ext cx="4998720" cy="31085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Revenue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Customer purchasing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Product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Revenue concentration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Business growth opportunities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76E9D5-A25F-82A0-FD43-D2B6474E1DE9}"/>
              </a:ext>
            </a:extLst>
          </p:cNvPr>
          <p:cNvSpPr txBox="1"/>
          <p:nvPr/>
        </p:nvSpPr>
        <p:spPr>
          <a:xfrm>
            <a:off x="6309360" y="2518913"/>
            <a:ext cx="487565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What drives revenue?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Who are the most valuable customers?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Which products perform the best?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What actions can management take to increase sales?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042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EAB4D-47EA-82D5-1739-9F202A46F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5"/>
          </a:xfrm>
          <a:solidFill>
            <a:srgbClr val="EC7016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829B9-55D1-680E-46DA-03BBA70F5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998720" cy="315391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Source:</a:t>
            </a:r>
            <a:br>
              <a:rPr lang="en-US" dirty="0"/>
            </a:br>
            <a:r>
              <a:rPr lang="en-US" dirty="0"/>
              <a:t>Online Retail Dataset (UCI Repository via Kaggle)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Description:</a:t>
            </a:r>
            <a:br>
              <a:rPr lang="en-US" dirty="0"/>
            </a:br>
            <a:r>
              <a:rPr lang="en-US" dirty="0"/>
              <a:t>Transactional sales data from a UK-based online retailer.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Analysis Period:</a:t>
            </a:r>
            <a:br>
              <a:rPr lang="en-US" dirty="0"/>
            </a:br>
            <a:r>
              <a:rPr lang="en-US" dirty="0"/>
              <a:t>December 2010 – December 2011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Tools Used: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BigQuery</a:t>
            </a:r>
            <a:r>
              <a:rPr lang="en-US" dirty="0"/>
              <a:t> SQL</a:t>
            </a:r>
            <a:br>
              <a:rPr lang="en-US" dirty="0"/>
            </a:br>
            <a:r>
              <a:rPr lang="en-US" dirty="0"/>
              <a:t>• Tableau Public</a:t>
            </a:r>
            <a:br>
              <a:rPr lang="en-US" dirty="0"/>
            </a:br>
            <a:r>
              <a:rPr lang="en-US" dirty="0"/>
              <a:t>• Microsoft PowerPoint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64E63-66C7-6DA9-F8A3-D392D973E5B7}"/>
              </a:ext>
            </a:extLst>
          </p:cNvPr>
          <p:cNvSpPr txBox="1"/>
          <p:nvPr/>
        </p:nvSpPr>
        <p:spPr>
          <a:xfrm>
            <a:off x="1222310" y="1313521"/>
            <a:ext cx="4873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Dataset Information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10EA5-4D5A-6EFB-78CF-3F4EA7ACBBAF}"/>
              </a:ext>
            </a:extLst>
          </p:cNvPr>
          <p:cNvSpPr txBox="1"/>
          <p:nvPr/>
        </p:nvSpPr>
        <p:spPr>
          <a:xfrm>
            <a:off x="6590581" y="1317722"/>
            <a:ext cx="4565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Dataset Summary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D79466D-ECD1-BF9B-FFC8-768383EE1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073763"/>
              </p:ext>
            </p:extLst>
          </p:nvPr>
        </p:nvGraphicFramePr>
        <p:xfrm>
          <a:off x="6590581" y="2108200"/>
          <a:ext cx="4504140" cy="3153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2070">
                  <a:extLst>
                    <a:ext uri="{9D8B030D-6E8A-4147-A177-3AD203B41FA5}">
                      <a16:colId xmlns:a16="http://schemas.microsoft.com/office/drawing/2014/main" val="196960900"/>
                    </a:ext>
                  </a:extLst>
                </a:gridCol>
                <a:gridCol w="2252070">
                  <a:extLst>
                    <a:ext uri="{9D8B030D-6E8A-4147-A177-3AD203B41FA5}">
                      <a16:colId xmlns:a16="http://schemas.microsoft.com/office/drawing/2014/main" val="1702400511"/>
                    </a:ext>
                  </a:extLst>
                </a:gridCol>
              </a:tblGrid>
              <a:tr h="52565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749897"/>
                  </a:ext>
                </a:extLst>
              </a:tr>
              <a:tr h="525652">
                <a:tc>
                  <a:txBody>
                    <a:bodyPr/>
                    <a:lstStyle/>
                    <a:p>
                      <a:r>
                        <a:rPr lang="en-US" dirty="0"/>
                        <a:t>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541,909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79732"/>
                  </a:ext>
                </a:extLst>
              </a:tr>
              <a:tr h="525652">
                <a:tc>
                  <a:txBody>
                    <a:bodyPr/>
                    <a:lstStyle/>
                    <a:p>
                      <a:r>
                        <a:rPr lang="en-US" dirty="0"/>
                        <a:t>Clean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524,878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8728520"/>
                  </a:ext>
                </a:extLst>
              </a:tr>
              <a:tr h="525652">
                <a:tc>
                  <a:txBody>
                    <a:bodyPr/>
                    <a:lstStyle/>
                    <a:p>
                      <a:r>
                        <a:rPr lang="en-US" dirty="0"/>
                        <a:t>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4,338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559880"/>
                  </a:ext>
                </a:extLst>
              </a:tr>
              <a:tr h="525652">
                <a:tc>
                  <a:txBody>
                    <a:bodyPr/>
                    <a:lstStyle/>
                    <a:p>
                      <a:r>
                        <a:rPr lang="en-US" dirty="0"/>
                        <a:t>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19,960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717369"/>
                  </a:ext>
                </a:extLst>
              </a:tr>
              <a:tr h="525652">
                <a:tc>
                  <a:txBody>
                    <a:bodyPr/>
                    <a:lstStyle/>
                    <a:p>
                      <a:r>
                        <a:rPr lang="en-US" dirty="0"/>
                        <a:t>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$10.64M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823472"/>
                  </a:ext>
                </a:extLst>
              </a:tr>
            </a:tbl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71ECF52-DC9E-FF5A-F331-60481BC321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8161282"/>
              </p:ext>
            </p:extLst>
          </p:nvPr>
        </p:nvGraphicFramePr>
        <p:xfrm>
          <a:off x="1097279" y="5434640"/>
          <a:ext cx="9997442" cy="876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F0762A0-5227-FEF9-5A46-DDFE741C5DCD}"/>
              </a:ext>
            </a:extLst>
          </p:cNvPr>
          <p:cNvSpPr txBox="1"/>
          <p:nvPr/>
        </p:nvSpPr>
        <p:spPr>
          <a:xfrm>
            <a:off x="1097279" y="6462789"/>
            <a:ext cx="1005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Key insight: Over 541,000 transactions analyzed…</a:t>
            </a:r>
          </a:p>
        </p:txBody>
      </p:sp>
    </p:spTree>
    <p:extLst>
      <p:ext uri="{BB962C8B-B14F-4D97-AF65-F5344CB8AC3E}">
        <p14:creationId xmlns:p14="http://schemas.microsoft.com/office/powerpoint/2010/main" val="4065017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44D7A-3115-2E27-8D02-ECB50CFA8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  <a:solidFill>
            <a:srgbClr val="EC7016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Cleaning Process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F13E730-3CAE-101F-A370-FCFE6942F81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33448673"/>
              </p:ext>
            </p:extLst>
          </p:nvPr>
        </p:nvGraphicFramePr>
        <p:xfrm>
          <a:off x="1096963" y="2120899"/>
          <a:ext cx="4640262" cy="3748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131">
                  <a:extLst>
                    <a:ext uri="{9D8B030D-6E8A-4147-A177-3AD203B41FA5}">
                      <a16:colId xmlns:a16="http://schemas.microsoft.com/office/drawing/2014/main" val="1477569507"/>
                    </a:ext>
                  </a:extLst>
                </a:gridCol>
                <a:gridCol w="2320131">
                  <a:extLst>
                    <a:ext uri="{9D8B030D-6E8A-4147-A177-3AD203B41FA5}">
                      <a16:colId xmlns:a16="http://schemas.microsoft.com/office/drawing/2014/main" val="2043387266"/>
                    </a:ext>
                  </a:extLst>
                </a:gridCol>
              </a:tblGrid>
              <a:tr h="62469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239685"/>
                  </a:ext>
                </a:extLst>
              </a:tr>
              <a:tr h="6246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Missing Customer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135,080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321542"/>
                  </a:ext>
                </a:extLst>
              </a:tr>
              <a:tr h="6246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Missing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1,454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98866"/>
                  </a:ext>
                </a:extLst>
              </a:tr>
              <a:tr h="6246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Cancelled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9,288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922844"/>
                  </a:ext>
                </a:extLst>
              </a:tr>
              <a:tr h="6246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Negative Quantity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10,624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2282992"/>
                  </a:ext>
                </a:extLst>
              </a:tr>
              <a:tr h="6246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Duplicate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5,258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716672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A956D8-3B8E-EC12-B5DF-862167599B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>
              <a:buNone/>
            </a:pPr>
            <a:r>
              <a:rPr lang="en-US" dirty="0">
                <a:solidFill>
                  <a:schemeClr val="dk1"/>
                </a:solidFill>
              </a:rPr>
              <a:t>Actions Taken: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 Removed duplicate records 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 Removed cancellations 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 Removed negative quantities 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 Removed missing descriptions 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sz="1700" dirty="0">
                <a:solidFill>
                  <a:schemeClr val="dk1"/>
                </a:solidFill>
              </a:rPr>
              <a:t>Retained missing </a:t>
            </a:r>
            <a:r>
              <a:rPr lang="en-US" sz="1700" dirty="0" err="1">
                <a:solidFill>
                  <a:schemeClr val="dk1"/>
                </a:solidFill>
              </a:rPr>
              <a:t>CustomerID</a:t>
            </a:r>
            <a:r>
              <a:rPr lang="en-US" sz="1700" dirty="0">
                <a:solidFill>
                  <a:schemeClr val="dk1"/>
                </a:solidFill>
              </a:rPr>
              <a:t> for revenue analysis </a:t>
            </a:r>
          </a:p>
          <a:p>
            <a:pPr marL="0">
              <a:buNone/>
            </a:pPr>
            <a:r>
              <a:rPr lang="en-US" dirty="0">
                <a:solidFill>
                  <a:schemeClr val="dk1"/>
                </a:solidFill>
              </a:rPr>
              <a:t>Result:</a:t>
            </a:r>
          </a:p>
          <a:p>
            <a:pPr marL="0" algn="ctr">
              <a:buNone/>
            </a:pPr>
            <a:r>
              <a:rPr lang="en-US" b="1" dirty="0">
                <a:solidFill>
                  <a:schemeClr val="dk1"/>
                </a:solidFill>
              </a:rPr>
              <a:t>541,909 → 524,878 clean records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0A7B44-00E7-DFEA-9AA3-6266F967A981}"/>
              </a:ext>
            </a:extLst>
          </p:cNvPr>
          <p:cNvSpPr txBox="1"/>
          <p:nvPr/>
        </p:nvSpPr>
        <p:spPr>
          <a:xfrm>
            <a:off x="1097280" y="1431985"/>
            <a:ext cx="463973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/>
              <a:t>Issues Identified</a:t>
            </a:r>
          </a:p>
        </p:txBody>
      </p:sp>
    </p:spTree>
    <p:extLst>
      <p:ext uri="{BB962C8B-B14F-4D97-AF65-F5344CB8AC3E}">
        <p14:creationId xmlns:p14="http://schemas.microsoft.com/office/powerpoint/2010/main" val="2396213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01BA66-2BF9-3F5E-1772-903A891E1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565"/>
            <a:ext cx="12192000" cy="643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51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35486-C91D-8C2D-E582-7CD3E5AE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  <a:solidFill>
            <a:srgbClr val="EC7016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Revenue Trends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B093BC-1D55-03F7-7AAE-C3B277A9CE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6962" y="2120900"/>
            <a:ext cx="4999037" cy="374819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AFE5C-6704-304D-711A-042892053B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Strong Q4 growth – (</a:t>
            </a:r>
            <a:r>
              <a:rPr lang="en-US" b="1" dirty="0"/>
              <a:t>AUG $757K – NOV 1.5M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November 2011 highest month - </a:t>
            </a:r>
            <a:r>
              <a:rPr lang="en-US" b="1" dirty="0"/>
              <a:t>$1.5M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800" dirty="0"/>
              <a:t>Holiday season significantly impacts revenue</a:t>
            </a:r>
          </a:p>
          <a:p>
            <a:endParaRPr lang="en-US" dirty="0"/>
          </a:p>
          <a:p>
            <a:r>
              <a:rPr lang="en-US" b="1" dirty="0"/>
              <a:t>Recommendations</a:t>
            </a:r>
          </a:p>
          <a:p>
            <a:r>
              <a:rPr lang="en-US" dirty="0"/>
              <a:t>Increase inventory and marketing before Q4 demand peaks.</a:t>
            </a:r>
          </a:p>
          <a:p>
            <a:r>
              <a:rPr lang="en-US" dirty="0"/>
              <a:t>Expand marketing campaigns  SEP – NOV</a:t>
            </a:r>
          </a:p>
          <a:p>
            <a:r>
              <a:rPr lang="en-US" dirty="0"/>
              <a:t>Ensure adequate staffing before holiday demand peaks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0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7D6E-D9F6-49BE-D504-E5787B706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  <a:solidFill>
            <a:srgbClr val="EC7016"/>
          </a:solidFill>
        </p:spPr>
        <p:txBody>
          <a:bodyPr anchor="ctr"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Geographic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BDE39-87BE-C117-F17A-7AF154E5FE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/>
              <a:t>Finding</a:t>
            </a:r>
          </a:p>
          <a:p>
            <a:pPr>
              <a:buNone/>
            </a:pPr>
            <a:r>
              <a:rPr lang="en-US" dirty="0"/>
              <a:t>84.6% of revenue originated from the United Kingdom.</a:t>
            </a:r>
          </a:p>
          <a:p>
            <a:pPr>
              <a:buNone/>
            </a:pPr>
            <a:r>
              <a:rPr lang="en-US" b="1" dirty="0"/>
              <a:t>Top Markets</a:t>
            </a:r>
          </a:p>
          <a:p>
            <a:pPr>
              <a:buFont typeface="+mj-lt"/>
              <a:buAutoNum type="arabicPeriod"/>
            </a:pPr>
            <a:r>
              <a:rPr lang="en-US" dirty="0"/>
              <a:t> United Kingdom </a:t>
            </a:r>
          </a:p>
          <a:p>
            <a:pPr>
              <a:buFont typeface="+mj-lt"/>
              <a:buAutoNum type="arabicPeriod"/>
            </a:pPr>
            <a:r>
              <a:rPr lang="en-US" dirty="0"/>
              <a:t> Netherlands </a:t>
            </a:r>
          </a:p>
          <a:p>
            <a:pPr>
              <a:buFont typeface="+mj-lt"/>
              <a:buAutoNum type="arabicPeriod"/>
            </a:pPr>
            <a:r>
              <a:rPr lang="en-US" dirty="0"/>
              <a:t> EIRE </a:t>
            </a:r>
          </a:p>
          <a:p>
            <a:pPr>
              <a:buFont typeface="+mj-lt"/>
              <a:buAutoNum type="arabicPeriod"/>
            </a:pPr>
            <a:r>
              <a:rPr lang="en-US" dirty="0"/>
              <a:t> Germany </a:t>
            </a:r>
          </a:p>
          <a:p>
            <a:pPr>
              <a:buFont typeface="+mj-lt"/>
              <a:buAutoNum type="arabicPeriod"/>
            </a:pPr>
            <a:r>
              <a:rPr lang="en-US" dirty="0"/>
              <a:t> France 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23315F-1DC5-08B3-9C2E-7CF3A5B32B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2120901"/>
            <a:ext cx="5059363" cy="18731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D23D26-300D-79C1-07F5-63C4DF3779A4}"/>
              </a:ext>
            </a:extLst>
          </p:cNvPr>
          <p:cNvSpPr txBox="1"/>
          <p:nvPr/>
        </p:nvSpPr>
        <p:spPr>
          <a:xfrm>
            <a:off x="6096000" y="4088921"/>
            <a:ext cx="50593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Business Risk</a:t>
            </a:r>
          </a:p>
          <a:p>
            <a:pPr>
              <a:buNone/>
            </a:pPr>
            <a:r>
              <a:rPr lang="en-US" dirty="0"/>
              <a:t>Revenue dependence on a single market increases exposure to regional economic downturns.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Recommendation</a:t>
            </a:r>
          </a:p>
          <a:p>
            <a:pPr>
              <a:buNone/>
            </a:pPr>
            <a:r>
              <a:rPr lang="en-US" dirty="0"/>
              <a:t>Expand growth initiatives in European markets.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35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C93F69-FFB7-8023-840D-814C4F723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48"/>
            <a:ext cx="12192000" cy="680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823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10150E-60DB-9F2D-BDEE-25411527C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695"/>
            <a:ext cx="12192000" cy="677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00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23D71-4799-FE7F-672D-BF482AF0926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EC7016"/>
          </a:solidFill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Pareto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88DAC-6DCA-D39D-F194-9D6ED6718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b="1" dirty="0"/>
              <a:t>Key Finding</a:t>
            </a:r>
          </a:p>
          <a:p>
            <a:r>
              <a:rPr lang="en-US" dirty="0"/>
              <a:t>1,129</a:t>
            </a:r>
            <a:r>
              <a:rPr lang="en-US" b="1" dirty="0"/>
              <a:t> </a:t>
            </a:r>
            <a:r>
              <a:rPr lang="en-US" dirty="0"/>
              <a:t>customers </a:t>
            </a:r>
            <a:r>
              <a:rPr lang="en-US" b="1" dirty="0"/>
              <a:t>(26%)</a:t>
            </a:r>
            <a:r>
              <a:rPr lang="en-US" dirty="0"/>
              <a:t> generated approximately </a:t>
            </a:r>
            <a:r>
              <a:rPr lang="en-US" b="1" dirty="0"/>
              <a:t>80%</a:t>
            </a:r>
            <a:r>
              <a:rPr lang="en-US" dirty="0"/>
              <a:t> of total revenue.</a:t>
            </a:r>
          </a:p>
          <a:p>
            <a:r>
              <a:rPr lang="en-US" sz="2800" b="1" dirty="0"/>
              <a:t>Interpretation</a:t>
            </a:r>
          </a:p>
          <a:p>
            <a:r>
              <a:rPr lang="en-US" dirty="0"/>
              <a:t>Revenue is concentrated among a relatively </a:t>
            </a:r>
            <a:r>
              <a:rPr lang="en-US" u="sng" dirty="0"/>
              <a:t>small</a:t>
            </a:r>
            <a:r>
              <a:rPr lang="en-US" dirty="0"/>
              <a:t> customer segment.</a:t>
            </a:r>
          </a:p>
          <a:p>
            <a:r>
              <a:rPr lang="en-US" sz="2800" b="1" dirty="0"/>
              <a:t>Recommendation</a:t>
            </a:r>
          </a:p>
          <a:p>
            <a:r>
              <a:rPr lang="en-US" dirty="0"/>
              <a:t>Develop: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Loyalty programs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VIP customer outreach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Retention initiatives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4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92031"/>
          </a:xfrm>
          <a:solidFill>
            <a:srgbClr val="EC7016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Strategic Recommendations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266CDD0-3E96-40BD-8324-62D1DD8615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901853"/>
              </p:ext>
            </p:extLst>
          </p:nvPr>
        </p:nvGraphicFramePr>
        <p:xfrm>
          <a:off x="1096963" y="1958087"/>
          <a:ext cx="10058400" cy="5079448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  <a:gridCol w="2513192">
                  <a:extLst>
                    <a:ext uri="{9D8B030D-6E8A-4147-A177-3AD203B41FA5}">
                      <a16:colId xmlns:a16="http://schemas.microsoft.com/office/drawing/2014/main" val="945233394"/>
                    </a:ext>
                  </a:extLst>
                </a:gridCol>
                <a:gridCol w="2516008">
                  <a:extLst>
                    <a:ext uri="{9D8B030D-6E8A-4147-A177-3AD203B41FA5}">
                      <a16:colId xmlns:a16="http://schemas.microsoft.com/office/drawing/2014/main" val="257226316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765783061"/>
                    </a:ext>
                  </a:extLst>
                </a:gridCol>
              </a:tblGrid>
              <a:tr h="343078">
                <a:tc>
                  <a:txBody>
                    <a:bodyPr/>
                    <a:lstStyle/>
                    <a:p>
                      <a:r>
                        <a:rPr lang="en-US" sz="1600" b="0" cap="all" spc="150" dirty="0">
                          <a:solidFill>
                            <a:schemeClr val="lt1"/>
                          </a:solidFill>
                        </a:rPr>
                        <a:t>Recommendation 1</a:t>
                      </a:r>
                    </a:p>
                  </a:txBody>
                  <a:tcPr marL="151061" marR="151061" marT="151061" marB="151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all" spc="150" dirty="0">
                          <a:solidFill>
                            <a:schemeClr val="lt1"/>
                          </a:solidFill>
                        </a:rPr>
                        <a:t>Recommendation 2</a:t>
                      </a:r>
                    </a:p>
                  </a:txBody>
                  <a:tcPr marL="151061" marR="151061" marT="151061" marB="151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all" spc="150" dirty="0">
                          <a:solidFill>
                            <a:schemeClr val="lt1"/>
                          </a:solidFill>
                        </a:rPr>
                        <a:t>Recommendation 3</a:t>
                      </a:r>
                    </a:p>
                  </a:txBody>
                  <a:tcPr marL="151061" marR="151061" marT="151061" marB="151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all" spc="150" dirty="0">
                          <a:solidFill>
                            <a:schemeClr val="lt1"/>
                          </a:solidFill>
                        </a:rPr>
                        <a:t>Recommendation 4</a:t>
                      </a:r>
                    </a:p>
                  </a:txBody>
                  <a:tcPr marL="151061" marR="151061" marT="151061" marB="151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  <a:tr h="2066882">
                <a:tc>
                  <a:txBody>
                    <a:bodyPr/>
                    <a:lstStyle/>
                    <a:p>
                      <a:r>
                        <a:rPr lang="en-US" sz="2800" b="1" cap="none" spc="0" dirty="0">
                          <a:solidFill>
                            <a:schemeClr val="tx1"/>
                          </a:solidFill>
                        </a:rPr>
                        <a:t>~ Prepare inventory and staffing for Q4 demand spikes.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~ Focus customer retention efforts on high – value customers.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~ Expand marketing in Germany, France, Ireland and the Netherlands.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~ Promote top performing product categories.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69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alpha val="784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alpha val="784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alpha val="784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alpha val="7843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228359"/>
                  </a:ext>
                </a:extLst>
              </a:tr>
              <a:tr h="457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144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ACC9E-1DCD-0AFB-4CFC-D03C2C986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670929"/>
          </a:xfrm>
          <a:solidFill>
            <a:srgbClr val="EC7016"/>
          </a:solidFill>
        </p:spPr>
        <p:txBody>
          <a:bodyPr anchor="ctr"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Executive Summary &amp; Final  Recommendations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B87AF5-6EB6-E02D-7AA8-49EB2F50B8F6}"/>
              </a:ext>
            </a:extLst>
          </p:cNvPr>
          <p:cNvSpPr txBox="1"/>
          <p:nvPr/>
        </p:nvSpPr>
        <p:spPr>
          <a:xfrm>
            <a:off x="1097280" y="1397479"/>
            <a:ext cx="319004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Key Findings</a:t>
            </a:r>
          </a:p>
          <a:p>
            <a:pPr algn="ctr"/>
            <a:endParaRPr lang="en-US" dirty="0"/>
          </a:p>
          <a:p>
            <a:r>
              <a:rPr lang="en-US" sz="1400" dirty="0"/>
              <a:t>• Analyzed 541,909 retail transactions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• Generated insights from $10.64M in revenue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• Identified strong Q4 seasonal growth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• Found that 26% of customers generated 80% of revenue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• Discovered high customer retention with a 65.6% repeat purchase 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000050-EF7B-47D9-4225-C0D1DA4D4F5F}"/>
              </a:ext>
            </a:extLst>
          </p:cNvPr>
          <p:cNvSpPr txBox="1"/>
          <p:nvPr/>
        </p:nvSpPr>
        <p:spPr>
          <a:xfrm>
            <a:off x="4287329" y="1397479"/>
            <a:ext cx="361734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Business Impact</a:t>
            </a:r>
          </a:p>
          <a:p>
            <a:pPr algn="ctr"/>
            <a:endParaRPr lang="en-US" dirty="0"/>
          </a:p>
          <a:p>
            <a:r>
              <a:rPr lang="en-US" sz="1400" dirty="0"/>
              <a:t>• Revenue concentration risks were identified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• High-value customer segments were defined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• Product performance drivers were uncovered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• Geographic growth opportunities were highlighted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• Data-driven decision making was enabled through interactive dashboards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6D0E8E-A456-EC3A-5836-EDAFCA1C7E34}"/>
              </a:ext>
            </a:extLst>
          </p:cNvPr>
          <p:cNvSpPr txBox="1"/>
          <p:nvPr/>
        </p:nvSpPr>
        <p:spPr>
          <a:xfrm>
            <a:off x="8100204" y="1397479"/>
            <a:ext cx="3191774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Recommendations</a:t>
            </a:r>
          </a:p>
          <a:p>
            <a:pPr algn="ctr"/>
            <a:endParaRPr lang="en-US" dirty="0"/>
          </a:p>
          <a:p>
            <a:r>
              <a:rPr lang="en-US" sz="1400" dirty="0"/>
              <a:t>• Increase inventory before Q4 demand peaks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• Strengthen loyalty programs for high-value customers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• Expand marketing efforts in Germany, France, and the Netherlands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• Promote top-performing product categories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• Monitor customer retention and revenue concentration metrics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20B5EB-C201-2B66-C591-5FA9B59D6409}"/>
              </a:ext>
            </a:extLst>
          </p:cNvPr>
          <p:cNvSpPr txBox="1"/>
          <p:nvPr/>
        </p:nvSpPr>
        <p:spPr>
          <a:xfrm>
            <a:off x="1035170" y="6400800"/>
            <a:ext cx="506083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Prepared by: Donald Benoit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C13DEB-1898-C048-7289-C0DDEC523615}"/>
              </a:ext>
            </a:extLst>
          </p:cNvPr>
          <p:cNvSpPr txBox="1"/>
          <p:nvPr/>
        </p:nvSpPr>
        <p:spPr>
          <a:xfrm>
            <a:off x="6094850" y="6400800"/>
            <a:ext cx="50608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Google Data Analytics Certificate ~</a:t>
            </a:r>
            <a:r>
              <a:rPr lang="en-US" sz="1200" dirty="0" err="1">
                <a:solidFill>
                  <a:schemeClr val="bg1"/>
                </a:solidFill>
              </a:rPr>
              <a:t>BigQuery</a:t>
            </a:r>
            <a:r>
              <a:rPr lang="en-US" sz="1200" dirty="0">
                <a:solidFill>
                  <a:schemeClr val="bg1"/>
                </a:solidFill>
              </a:rPr>
              <a:t> • SQL • Tableau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D759D7-F3B6-D679-4C03-8F45B0513BC7}"/>
              </a:ext>
            </a:extLst>
          </p:cNvPr>
          <p:cNvSpPr txBox="1"/>
          <p:nvPr/>
        </p:nvSpPr>
        <p:spPr>
          <a:xfrm>
            <a:off x="1097280" y="5546785"/>
            <a:ext cx="10058400" cy="670929"/>
          </a:xfrm>
          <a:prstGeom prst="rect">
            <a:avLst/>
          </a:prstGeom>
          <a:solidFill>
            <a:srgbClr val="F6A21D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This analysis transformed raw transaction data into actionable business insights that support revenue growth, customer retention, and strategic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98607527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{D0C1BBC1-AA05-44D6-85BA-FE85A5988C5D}TFb63a7776-4452-49b2-8055-21efce632b726e3c8758_win32-7d1db0309ca7</Template>
  <TotalTime>159</TotalTime>
  <Words>621</Words>
  <Application>Microsoft Office PowerPoint</Application>
  <PresentationFormat>Widescreen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Bookman Old Style</vt:lpstr>
      <vt:lpstr>Calibri</vt:lpstr>
      <vt:lpstr>Franklin Gothic Book</vt:lpstr>
      <vt:lpstr>Custom</vt:lpstr>
      <vt:lpstr>Customer Shopping Behavior Analytics</vt:lpstr>
      <vt:lpstr>~ Objective ~ </vt:lpstr>
      <vt:lpstr>Dataset Overview</vt:lpstr>
      <vt:lpstr>Data Cleaning Process</vt:lpstr>
      <vt:lpstr>PowerPoint Presentation</vt:lpstr>
      <vt:lpstr>Revenue Trends</vt:lpstr>
      <vt:lpstr>Geographic Analysis</vt:lpstr>
      <vt:lpstr>PowerPoint Presentation</vt:lpstr>
      <vt:lpstr>PowerPoint Presentation</vt:lpstr>
      <vt:lpstr>Pareto Analysis</vt:lpstr>
      <vt:lpstr>Strategic Recommendations</vt:lpstr>
      <vt:lpstr>Executive Summary &amp; Final 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Donald Benoit</dc:creator>
  <cp:lastModifiedBy>Donald Benoit</cp:lastModifiedBy>
  <cp:revision>4</cp:revision>
  <dcterms:created xsi:type="dcterms:W3CDTF">2026-06-14T19:32:32Z</dcterms:created>
  <dcterms:modified xsi:type="dcterms:W3CDTF">2026-06-14T22:11:46Z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